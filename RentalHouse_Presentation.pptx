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6400">
                <a:solidFill>
                  <a:srgbClr val="2563EB"/>
                </a:solidFill>
                <a:latin typeface="Arial"/>
              </a:defRPr>
            </a:pPr>
            <a:r>
              <a:t>RentalHouse</a:t>
            </a:r>
          </a:p>
          <a:p>
            <a:pPr>
              <a:spcBef>
                <a:spcPts val="1500"/>
              </a:spcBef>
              <a:defRPr sz="2800">
                <a:solidFill>
                  <a:srgbClr val="FFFFFF"/>
                </a:solidFill>
                <a:latin typeface="Arial"/>
              </a:defRPr>
            </a:pPr>
            <a:r>
              <a:t>Premium House Rental MERN Platform</a:t>
            </a:r>
            <a:br/>
            <a:r>
              <a:t>Summer Internship Project Presentation</a:t>
            </a:r>
          </a:p>
          <a:p>
            <a:pPr>
              <a:spcBef>
                <a:spcPts val="4000"/>
              </a:spcBef>
              <a:defRPr sz="2000">
                <a:solidFill>
                  <a:srgbClr val="CBD5E1"/>
                </a:solidFill>
                <a:latin typeface="Arial"/>
              </a:defRPr>
            </a:pPr>
            <a:r>
              <a:t>Student: Anurudh Gujja (24EG105B65)</a:t>
            </a:r>
            <a:br/>
            <a:r>
              <a:t>Mentor: Dr R Jyothikumar</a:t>
            </a:r>
            <a:br/>
            <a:r>
              <a:t>Anurag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600">
                <a:solidFill>
                  <a:srgbClr val="0F172A"/>
                </a:solidFill>
                <a:latin typeface="Arial"/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>
                <a:solidFill>
                  <a:srgbClr val="334155"/>
                </a:solidFill>
              </a:defRPr>
            </a:pPr>
            <a:r>
              <a:t>• RentalHouse is a verified peer-to-peer property renting portal built on the MERN Stack.</a:t>
            </a:r>
          </a:p>
          <a:p>
            <a:pPr>
              <a:spcAft>
                <a:spcPts val="1500"/>
              </a:spcAft>
              <a:defRPr sz="2200">
                <a:solidFill>
                  <a:srgbClr val="334155"/>
                </a:solidFill>
              </a:defRPr>
            </a:pPr>
            <a:r>
              <a:t>• Digitizes the leasing lifecycle, removing middleman agents and high brokerage fees.</a:t>
            </a:r>
          </a:p>
          <a:p>
            <a:pPr>
              <a:defRPr sz="2200">
                <a:solidFill>
                  <a:srgbClr val="334155"/>
                </a:solidFill>
              </a:defRPr>
            </a:pPr>
            <a:r>
              <a:t>• Integrates interactive coordinates maps (Leaflet) and comparison matrices client-side.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600">
                <a:solidFill>
                  <a:srgbClr val="0F172A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334155"/>
                </a:solidFill>
              </a:defRPr>
            </a:pPr>
            <a:r>
              <a:t>• Fake &amp; Duplicate Listings: Unverified posting entries scam tenants out of advance deposit bookings.</a:t>
            </a:r>
          </a:p>
          <a:p>
            <a:pPr>
              <a:spcAft>
                <a:spcPts val="1500"/>
              </a:spcAft>
              <a:defRPr sz="2000">
                <a:solidFill>
                  <a:srgbClr val="334155"/>
                </a:solidFill>
              </a:defRPr>
            </a:pPr>
            <a:r>
              <a:t>• Steep Broker Commissions: offline real estate brokers block direct access and inflate costs.</a:t>
            </a:r>
          </a:p>
          <a:p>
            <a:pPr>
              <a:spcAft>
                <a:spcPts val="1500"/>
              </a:spcAft>
              <a:defRPr sz="2000">
                <a:solidFill>
                  <a:srgbClr val="334155"/>
                </a:solidFill>
              </a:defRPr>
            </a:pPr>
            <a:r>
              <a:t>• Manual Comparison: Renter leads cannot evaluate features of multiple properties side-by-side.</a:t>
            </a:r>
          </a:p>
          <a:p>
            <a:pPr>
              <a:spcAft>
                <a:spcPts val="1500"/>
              </a:spcAft>
              <a:defRPr sz="2000">
                <a:solidFill>
                  <a:srgbClr val="334155"/>
                </a:solidFill>
              </a:defRPr>
            </a:pPr>
            <a:r>
              <a:t>• Unintuitive Directories: Lack of visual coordinates-based properties discovery on maps.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600">
                <a:solidFill>
                  <a:srgbClr val="0F172A"/>
                </a:solidFill>
                <a:latin typeface="Arial"/>
              </a:defRPr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334155"/>
                </a:solidFill>
              </a:defRPr>
            </a:pPr>
            <a:r>
              <a:t>1. Direct Verification: Implement admin listing auditing to keep entries hidden until validated.</a:t>
            </a:r>
          </a:p>
          <a:p>
            <a:pPr>
              <a:spcAft>
                <a:spcPts val="1500"/>
              </a:spcAft>
              <a:defRPr sz="2000">
                <a:solidFill>
                  <a:srgbClr val="334155"/>
                </a:solidFill>
              </a:defRPr>
            </a:pPr>
            <a:r>
              <a:t>2. Widescreen Compare matrix: Enable tenants to compare up to 3 listings side-by-side.</a:t>
            </a:r>
          </a:p>
          <a:p>
            <a:pPr>
              <a:spcAft>
                <a:spcPts val="1500"/>
              </a:spcAft>
              <a:defRPr sz="2000">
                <a:solidFill>
                  <a:srgbClr val="334155"/>
                </a:solidFill>
              </a:defRPr>
            </a:pPr>
            <a:r>
              <a:t>3. Leaflet Geolocations: Render listing markers on OpenStreetMap grids in real-time.</a:t>
            </a:r>
          </a:p>
          <a:p>
            <a:pPr>
              <a:spcAft>
                <a:spcPts val="1500"/>
              </a:spcAft>
              <a:defRPr sz="2000">
                <a:solidFill>
                  <a:srgbClr val="334155"/>
                </a:solidFill>
              </a:defRPr>
            </a:pPr>
            <a:r>
              <a:t>4. Direct Messaging: Establish visitor inquiries logging in owner dashboard boxes.</a:t>
            </a:r>
          </a:p>
          <a:p>
            <a:pPr>
              <a:spcAft>
                <a:spcPts val="1500"/>
              </a:spcAft>
              <a:defRPr sz="2000">
                <a:solidFill>
                  <a:srgbClr val="334155"/>
                </a:solidFill>
              </a:defRPr>
            </a:pPr>
            <a:r>
              <a:t>5. Decoupled Architecture: Setup high-speed React front-end communicating with stateless REST APIs.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600">
                <a:solidFill>
                  <a:srgbClr val="0F172A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• Decoupled MVC Architecture: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  - UI Layer: React SPA client on port 3000.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  - Controller Layer: Express backend server on port 5000.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  - Data Layer: MongoDB Atlas Cloud database.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• Fallback Image Streamer: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  - Uses Local uploads/ file folder fallback if Cloudinary API variables are empty in env.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• Email SMTP Fallback: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  - Logs mailers output to terminal if SMTP server variables are blank.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600">
                <a:solidFill>
                  <a:srgbClr val="0F172A"/>
                </a:solidFill>
                <a:latin typeface="Arial"/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• Frontend Core: React 18, Vite compiler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• Styling &amp; Grid UI: Vanilla CSS, Bootstrap 5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• Map Widget Engine: Leaflet, React-Leaflet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• Analytics Viz: Recharts (Data Visualizations)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• Backend Logic: Node.js, Express.js REST API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• Security Hashing: Bcrypt.js (Password protection)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• DB Layer: MongoDB Atlas &amp; Mongoose ODM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• File Parsing: Multer (Multiform file upload)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600">
                <a:solidFill>
                  <a:srgbClr val="0F172A"/>
                </a:solidFill>
                <a:latin typeface="Arial"/>
              </a:defRPr>
            </a:pPr>
            <a:r>
              <a:t>Key Functional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334155"/>
                </a:solidFill>
              </a:defRPr>
            </a:pPr>
            <a:r>
              <a:t>• Authentication Gatekeeper: Secure onboarding. Signs secure JWT token for Tenant/Owner/Admin role access.</a:t>
            </a:r>
          </a:p>
          <a:p>
            <a:pPr>
              <a:spcAft>
                <a:spcPts val="1500"/>
              </a:spcAft>
              <a:defRPr sz="1800">
                <a:solidFill>
                  <a:srgbClr val="334155"/>
                </a:solidFill>
              </a:defRPr>
            </a:pPr>
            <a:r>
              <a:t>• Property Explorer Catalog: Fast city/rent/amenity query listings filter with local comparison matrices.</a:t>
            </a:r>
          </a:p>
          <a:p>
            <a:pPr>
              <a:spcAft>
                <a:spcPts val="1500"/>
              </a:spcAft>
              <a:defRPr sz="1800">
                <a:solidFill>
                  <a:srgbClr val="334155"/>
                </a:solidFill>
              </a:defRPr>
            </a:pPr>
            <a:r>
              <a:t>• Landlord Dashboard: Owner listing upload editor + direct booking visit inquiries table inbox.</a:t>
            </a:r>
          </a:p>
          <a:p>
            <a:pPr>
              <a:spcAft>
                <a:spcPts val="1500"/>
              </a:spcAft>
              <a:defRPr sz="1800">
                <a:solidFill>
                  <a:srgbClr val="334155"/>
                </a:solidFill>
              </a:defRPr>
            </a:pPr>
            <a:r>
              <a:t>• Admin Control Panel: Moderates pending listings (Approving/Deleting) and user accounts block toggles.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600">
                <a:solidFill>
                  <a:srgbClr val="0F172A"/>
                </a:solidFill>
                <a:latin typeface="Arial"/>
              </a:defRPr>
            </a:pPr>
            <a:r>
              <a:t>Data Flow Diagram (Level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• Context Level Data Flows: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  - Tenant inputs Search query, receives listings JSON.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  - Tenant submits Booking Inquiry message, stored in D4 DB.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  - Owner posts Listing properties details, writes to D2 Property DB.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  - Admin sends Moderation triggers (delete listings, block users).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• Process Nodes: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  - 1.0 JWT User Authentication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  - 2.0 Catalog Filtering &amp; search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  - 3.0 Booking / Inquiry routing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  - 4.0 listings Administration moderation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600">
                <a:solidFill>
                  <a:srgbClr val="0F172A"/>
                </a:solidFill>
                <a:latin typeface="Arial"/>
              </a:defRPr>
            </a:pPr>
            <a:r>
              <a:t>User Interface (Homepage &amp; Search)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Homepage City Filter (Noida fixed image) &amp; Properties Directory Search:</a:t>
            </a:r>
          </a:p>
        </p:txBody>
      </p:sp>
      <p:pic>
        <p:nvPicPr>
          <p:cNvPr id="4" name="Picture 3" descr="noida_location_image_17825598395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0"/>
            <a:ext cx="5303520" cy="4114800"/>
          </a:xfrm>
          <a:prstGeom prst="rect">
            <a:avLst/>
          </a:prstGeom>
        </p:spPr>
      </p:pic>
      <p:pic>
        <p:nvPicPr>
          <p:cNvPr id="5" name="Picture 4" descr="noida_properties_17825597248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011680"/>
            <a:ext cx="53035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600">
                <a:solidFill>
                  <a:srgbClr val="0F172A"/>
                </a:solidFill>
                <a:latin typeface="Arial"/>
              </a:defRPr>
            </a:pPr>
            <a:r>
              <a:t>User Interface (Details &amp; Compare)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Interactive OSM Map Details View &amp; Widescreen Property Compare matrix:</a:t>
            </a:r>
          </a:p>
        </p:txBody>
      </p:sp>
      <p:pic>
        <p:nvPicPr>
          <p:cNvPr id="4" name="Picture 3" descr="property_details_17825616929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0"/>
            <a:ext cx="5303520" cy="4114800"/>
          </a:xfrm>
          <a:prstGeom prst="rect">
            <a:avLst/>
          </a:prstGeom>
        </p:spPr>
      </p:pic>
      <p:pic>
        <p:nvPicPr>
          <p:cNvPr id="5" name="Picture 4" descr="compare_page_working_17825592558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011680"/>
            <a:ext cx="53035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600">
                <a:solidFill>
                  <a:srgbClr val="0F172A"/>
                </a:solidFill>
                <a:latin typeface="Arial"/>
              </a:defRPr>
            </a:pPr>
            <a:r>
              <a:t>Quality Assurance &amp;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334155"/>
                </a:solidFill>
              </a:defRPr>
            </a:pPr>
            <a:r>
              <a:t>• Functional UAT: Validated credentials login flow and dashboard guard redirects.</a:t>
            </a:r>
          </a:p>
          <a:p>
            <a:pPr>
              <a:spcAft>
                <a:spcPts val="1500"/>
              </a:spcAft>
              <a:defRPr sz="1800">
                <a:solidFill>
                  <a:srgbClr val="334155"/>
                </a:solidFill>
              </a:defRPr>
            </a:pPr>
            <a:r>
              <a:t>• API Testing: postman endpoint evaluations on routes (GET /properties, POST /inquiries) returning correct status codes.</a:t>
            </a:r>
          </a:p>
          <a:p>
            <a:pPr>
              <a:spcAft>
                <a:spcPts val="1500"/>
              </a:spcAft>
              <a:defRPr sz="1800">
                <a:solidFill>
                  <a:srgbClr val="334155"/>
                </a:solidFill>
              </a:defRPr>
            </a:pPr>
            <a:r>
              <a:t>• Integrations Validation: Verified database average ratings triggers calculations upon review inserts.</a:t>
            </a:r>
          </a:p>
          <a:p>
            <a:pPr>
              <a:spcAft>
                <a:spcPts val="1500"/>
              </a:spcAft>
              <a:defRPr sz="1800">
                <a:solidFill>
                  <a:srgbClr val="334155"/>
                </a:solidFill>
              </a:defRPr>
            </a:pPr>
            <a:r>
              <a:t>• Local Fallbacks Checked: Verified property creation and uploads directory uploads stream without Cloudinary API configurations.</a:t>
            </a:r>
          </a:p>
          <a:p>
            <a:pPr>
              <a:spcAft>
                <a:spcPts val="1500"/>
              </a:spcAft>
              <a:defRPr sz="1800">
                <a:solidFill>
                  <a:srgbClr val="334155"/>
                </a:solidFill>
              </a:defRPr>
            </a:pPr>
            <a:r>
              <a:t>• Performance checks: Vite bundling load validations show paginated query retrievals render in under 350ms.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600">
                <a:solidFill>
                  <a:srgbClr val="0F172A"/>
                </a:solidFill>
                <a:latin typeface="Arial"/>
              </a:defRPr>
            </a:pPr>
            <a:r>
              <a:t>Conclusion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• Conclusion: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  - RentalHouse provides a secure MERN portal that removes real estate brokers and verified fake listings.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  - Decentralized portals lower landlord operations overhead and give tenants visual comparative searching matrices.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• Future Enhancements: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  - Video Consultations: WebRTC streaming in dashboard grids for virtual listings inspections.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  - Payment integrations: Stripe booking deposit hold charges checkout.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  - Notification services: Twilio SMS text alerts for booking updates.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